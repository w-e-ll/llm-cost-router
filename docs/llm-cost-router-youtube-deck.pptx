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7"/>
          </a:solidFill>
          <a:ln w="12700">
            <a:solidFill>
              <a:srgbClr val="1012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5669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BA7B5"/>
                </a:solidFill>
              </a:rPr>
              <a:t>Sunday AI Builds /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1325880"/>
            <a:ext cx="8961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</a:rPr>
              <a:t>Your AI architecture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</a:rPr>
              <a:t>is also a financial architecture.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2852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9BA7B5"/>
                </a:solidFill>
              </a:rPr>
              <a:t>A measured comparison of model routing, real token usage, and monthly cost.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3657600"/>
            <a:ext cx="4754880" cy="0"/>
          </a:xfrm>
          <a:prstGeom prst="line">
            <a:avLst/>
          </a:prstGeom>
          <a:noFill/>
          <a:ln w="25400">
            <a:solidFill>
              <a:srgbClr val="FF5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886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5FD6E6"/>
                </a:solidFill>
              </a:rPr>
              <a:t>LLM Cost Router / AI FinOps Calculator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4297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BA7B5"/>
                </a:solidFill>
              </a:rPr>
              <a:t>FastAPI  ·  Streamlit  ·  PostgreSQL  ·  Docker  ·  OpenAI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46920" y="5321808"/>
            <a:ext cx="1508760" cy="256032"/>
          </a:xfrm>
          <a:prstGeom prst="roundRect">
            <a:avLst>
              <a:gd name="adj" fmla="val 28571"/>
            </a:avLst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38360" y="5376672"/>
            <a:ext cx="1325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01217"/>
                </a:solidFill>
              </a:rPr>
              <a:t>LIVE EXPERIMENT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46920" y="5715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4F7FB"/>
                </a:solidFill>
              </a:rPr>
              <a:t>Cost is an architecture decision.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BA7B5"/>
                </a:solidFill>
              </a:rPr>
              <a:t>Sunday AI Builds / 01   ·   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B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model call has a financial shape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B5"/>
                </a:solidFill>
              </a:rPr>
              <a:t>A production-style workload can be correct, fast, and still be unnecessarily expensive.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246120" cy="2286000"/>
          </a:xfrm>
          <a:prstGeom prst="roundRect">
            <a:avLst>
              <a:gd name="adj" fmla="val 2400"/>
            </a:avLst>
          </a:prstGeom>
          <a:solidFill>
            <a:srgbClr val="191D25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4F7FB"/>
                </a:solidFill>
              </a:rPr>
              <a:t>100,000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96112" y="2743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requests / month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31012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A small routing decision repeats 100k times.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246120" cy="2286000"/>
          </a:xfrm>
          <a:prstGeom prst="roundRect">
            <a:avLst>
              <a:gd name="adj" fmla="val 2400"/>
            </a:avLst>
          </a:prstGeom>
          <a:solidFill>
            <a:srgbClr val="202631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148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C857"/>
                </a:solidFill>
              </a:rPr>
              <a:t>$X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81728" y="2743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cost per workload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81728" y="331012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Input tokens, output tokens, fallbacks, and latency all matter.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83880" y="1828800"/>
            <a:ext cx="3246120" cy="2286000"/>
          </a:xfrm>
          <a:prstGeom prst="roundRect">
            <a:avLst>
              <a:gd name="adj" fmla="val 2400"/>
            </a:avLst>
          </a:prstGeom>
          <a:solidFill>
            <a:srgbClr val="191D25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0" y="21031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5A5F"/>
                </a:solidFill>
              </a:rPr>
              <a:t>?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85632" y="2743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what should be routed?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85632" y="331012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Simple work can use a cheaper model. Complex work may need the stronger one.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The question is not “which model is best?” It is “which model is sufficient for this task?”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BA7B5"/>
                </a:solidFill>
              </a:rPr>
              <a:t>Sunday AI Builds / 01   ·  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B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BUILT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small experiment with production-shaped controls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B5"/>
                </a:solidFill>
              </a:rPr>
              <a:t>One workload. Two policies. One saved run that becomes the source for planning.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240280"/>
            <a:ext cx="1691640" cy="1143000"/>
          </a:xfrm>
          <a:prstGeom prst="roundRect">
            <a:avLst>
              <a:gd name="adj" fmla="val 4800"/>
            </a:avLst>
          </a:prstGeom>
          <a:solidFill>
            <a:srgbClr val="191D25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146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</a:rPr>
              <a:t>Streamlit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BA7B5"/>
                </a:solidFill>
              </a:rPr>
              <a:t>UI / demo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2578608"/>
            <a:ext cx="365760" cy="320040"/>
          </a:xfrm>
          <a:prstGeom prst="chevron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2240280"/>
            <a:ext cx="1691640" cy="1143000"/>
          </a:xfrm>
          <a:prstGeom prst="roundRect">
            <a:avLst>
              <a:gd name="adj" fmla="val 4800"/>
            </a:avLst>
          </a:prstGeom>
          <a:solidFill>
            <a:srgbClr val="191D25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25146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</a:rPr>
              <a:t>FastAPI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28346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BA7B5"/>
                </a:solidFill>
              </a:rPr>
              <a:t>validation / API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578608"/>
            <a:ext cx="365760" cy="320040"/>
          </a:xfrm>
          <a:prstGeom prst="chevron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7800" y="2240280"/>
            <a:ext cx="1691640" cy="1143000"/>
          </a:xfrm>
          <a:prstGeom prst="roundRect">
            <a:avLst>
              <a:gd name="adj" fmla="val 4800"/>
            </a:avLst>
          </a:prstGeom>
          <a:solidFill>
            <a:srgbClr val="202631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5146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FD6E6"/>
                </a:solidFill>
              </a:rPr>
              <a:t>Router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28346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BA7B5"/>
                </a:solidFill>
              </a:rPr>
              <a:t>policy / fallback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2578608"/>
            <a:ext cx="365760" cy="320040"/>
          </a:xfrm>
          <a:prstGeom prst="chevron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2240280"/>
            <a:ext cx="1691640" cy="1143000"/>
          </a:xfrm>
          <a:prstGeom prst="roundRect">
            <a:avLst>
              <a:gd name="adj" fmla="val 4800"/>
            </a:avLst>
          </a:prstGeom>
          <a:solidFill>
            <a:srgbClr val="191D25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25146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</a:rPr>
              <a:t>OpenAI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80960" y="28346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BA7B5"/>
                </a:solidFill>
              </a:rPr>
              <a:t>real calls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26880" y="2578608"/>
            <a:ext cx="365760" cy="320040"/>
          </a:xfrm>
          <a:prstGeom prst="chevron">
            <a:avLst/>
          </a:prstGeom>
          <a:solidFill>
            <a:srgbClr val="FF5A5F"/>
          </a:solidFill>
          <a:ln w="12700">
            <a:solidFill>
              <a:srgbClr val="FF5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29800" y="2240280"/>
            <a:ext cx="1691640" cy="1143000"/>
          </a:xfrm>
          <a:prstGeom prst="roundRect">
            <a:avLst>
              <a:gd name="adj" fmla="val 4800"/>
            </a:avLst>
          </a:prstGeom>
          <a:solidFill>
            <a:srgbClr val="191D25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66960" y="251460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4F7FB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66960" y="28346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9BA7B5"/>
                </a:solidFill>
              </a:rPr>
              <a:t>runs / plans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4251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BA7B5"/>
                </a:solidFill>
              </a:rPr>
              <a:t>Baseline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4251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gpt-4.1-mini for every task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0" y="42519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BA7B5"/>
                </a:solidFill>
              </a:rPr>
              <a:t>Routed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42519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nano for simple · mini for complex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77240" y="5166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6DE0A3"/>
                </a:solidFill>
              </a:rPr>
              <a:t>Prepare is free. Run is explicit. The UUID is reserved before paid calls.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BA7B5"/>
                </a:solidFill>
              </a:rPr>
              <a:t>Sunday AI Builds / 01   ·  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B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demo uses real OpenAI responses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B5"/>
                </a:solidFill>
              </a:rPr>
              <a:t>The dataset is intentionally small and inspectable: eight fixed tasks, each evaluated against a reference answer.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191D25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488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FD6E6"/>
                </a:solidFill>
              </a:rPr>
              <a:t>INPUTS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baseline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8895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simple / complex models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23697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task count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58444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budget guard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latency SLA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793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fallback policy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828800"/>
            <a:ext cx="5349240" cy="3200400"/>
          </a:xfrm>
          <a:prstGeom prst="roundRect">
            <a:avLst>
              <a:gd name="adj" fmla="val 1714"/>
            </a:avLst>
          </a:prstGeom>
          <a:solidFill>
            <a:srgbClr val="202631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14884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FD6E6"/>
                </a:solidFill>
              </a:rPr>
              <a:t>RECORDED OUTPUTS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25420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input / output tokens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28895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cached tokens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2369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measured latency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584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estimated USD cost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3931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accuracy and errors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4279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fallback attempts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55961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The application reports what happened. It does not pretend a toy sample is a production benchmark.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BA7B5"/>
                </a:solidFill>
              </a:rPr>
              <a:t>Sunday AI Builds / 01   ·  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B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RESULT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Routing reduced cost by one third in this run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B5"/>
                </a:solidFill>
              </a:rPr>
              <a:t>The same eight-task workload was executed under both policies.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BA7B5"/>
                </a:solidFill>
              </a:rPr>
              <a:t>BASELINE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4F7FB"/>
                </a:solidFill>
              </a:rPr>
              <a:t>$0.0003396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9077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BA7B5"/>
                </a:solidFill>
              </a:rPr>
              <a:t>8 calls · 87.5% accuracy · p95 1276.91 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0" y="18288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BA7B5"/>
                </a:solidFill>
              </a:rPr>
              <a:t>ROUTED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2148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5FD6E6"/>
                </a:solidFill>
              </a:rPr>
              <a:t>$0.0002265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90288" y="29077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BA7B5"/>
                </a:solidFill>
              </a:rPr>
              <a:t>8 calls · 87.5% accuracy · p95 1103.37 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321040" y="1737360"/>
            <a:ext cx="3154680" cy="1874520"/>
          </a:xfrm>
          <a:prstGeom prst="roundRect">
            <a:avLst>
              <a:gd name="adj" fmla="val 2927"/>
            </a:avLst>
          </a:prstGeom>
          <a:solidFill>
            <a:srgbClr val="202631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41080" y="2148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6DE0A3"/>
                </a:solidFill>
              </a:rPr>
              <a:t>33.3%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668512" y="28529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</a:rPr>
              <a:t>lower measured cost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343400"/>
            <a:ext cx="10332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C857"/>
                </a:solidFill>
              </a:rPr>
              <a:t>One quality miss remained: both policies answered the invoice task incorrectly.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77240" y="4892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4F7FB"/>
                </a:solidFill>
              </a:rPr>
              <a:t>That failure is part of the result—not hidden by the calculator.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BA7B5"/>
                </a:solidFill>
              </a:rPr>
              <a:t>Sunday AI Builds / 01   ·  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B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PLANNING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live run becomes a financial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B5"/>
                </a:solidFill>
              </a:rPr>
              <a:t>Planning reads the saved UUID. It makes no additional OpenAI calls.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9BA7B5"/>
                </a:solidFill>
              </a:rPr>
              <a:t>100,000 REQUESTS / MONTH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4937760" cy="1920240"/>
          </a:xfrm>
          <a:prstGeom prst="roundRect">
            <a:avLst>
              <a:gd name="adj" fmla="val 2857"/>
            </a:avLst>
          </a:prstGeom>
          <a:solidFill>
            <a:srgbClr val="191D25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487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Baseline projection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2834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</a:rPr>
              <a:t>$4.245 / month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51560" y="34564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$0.1415 / day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2176272"/>
            <a:ext cx="4937760" cy="1920240"/>
          </a:xfrm>
          <a:prstGeom prst="roundRect">
            <a:avLst>
              <a:gd name="adj" fmla="val 2857"/>
            </a:avLst>
          </a:prstGeom>
          <a:solidFill>
            <a:srgbClr val="202631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48716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Routed projection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FD6E6"/>
                </a:solidFill>
              </a:rPr>
              <a:t>$2.831 / month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675120" y="345643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BA7B5"/>
                </a:solidFill>
              </a:rPr>
              <a:t>$0.0944 / day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15000" y="2286000"/>
            <a:ext cx="0" cy="1691640"/>
          </a:xfrm>
          <a:prstGeom prst="line">
            <a:avLst/>
          </a:prstGeom>
          <a:noFill/>
          <a:ln w="25400">
            <a:solidFill>
              <a:srgbClr val="FF5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92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6DE0A3"/>
                </a:solidFill>
              </a:rPr>
              <a:t>Projected savings: $1.414 / month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53766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The planner preserves the original rates, tokens, fallback behavior, and assumptions with the run.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BA7B5"/>
                </a:solidFill>
              </a:rPr>
              <a:t>Sunday AI Builds / 01   ·  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B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TO INSPECT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logs explain the business decision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B5"/>
                </a:solidFill>
              </a:rPr>
              <a:t>Not just “request succeeded”: model choice, usage, latency, cost, fallback, and persistence.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0789920" cy="3063240"/>
          </a:xfrm>
          <a:prstGeom prst="roundRect">
            <a:avLst>
              <a:gd name="adj" fmla="val 1791"/>
            </a:avLst>
          </a:prstGeom>
          <a:solidFill>
            <a:srgbClr val="191D25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677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FD6E6"/>
                </a:solidFill>
              </a:rPr>
              <a:t>routing.selected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46120" y="226771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</a:rPr>
              <a:t>policy="routed"  model="gpt-4.1-nano"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7706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FD6E6"/>
                </a:solidFill>
              </a:rPr>
              <a:t>model.attempt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277063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</a:rPr>
              <a:t>input_tokens=66  output_tokens=9  cost_usd="$0.0000102"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2735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6DE0A3"/>
                </a:solidFill>
              </a:rPr>
              <a:t>experiment.executed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327355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</a:rPr>
              <a:t>status="completed"  routed_cost_usd="$0.0002265"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776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FD6E6"/>
                </a:solidFill>
              </a:rPr>
              <a:t>db.run_saved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377647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</a:rPr>
              <a:t>status="completed"  run_id="…"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27939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FD6E6"/>
                </a:solidFill>
              </a:rPr>
              <a:t>planning.projected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46120" y="4279392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B"/>
                </a:solidFill>
              </a:rPr>
              <a:t>baseline_usd="4.245"  routed_usd="2.831"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486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Docker + PostgreSQL + rotating files in var/logs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BA7B5"/>
                </a:solidFill>
              </a:rPr>
              <a:t>Sunday AI Builds / 01   ·  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2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9BA7B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WOULD CHANGE FOR PRODUCTION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prototype is useful because its limits are visible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7B5"/>
                </a:solidFill>
              </a:rPr>
              <a:t>The Sunday build answers one question well: can measured routing reduce cost on this workload?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3246120" cy="3154680"/>
          </a:xfrm>
          <a:prstGeom prst="roundRect">
            <a:avLst>
              <a:gd name="adj" fmla="val 1739"/>
            </a:avLst>
          </a:prstGeom>
          <a:solidFill>
            <a:srgbClr val="191D25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BA7B5"/>
                </a:solidFill>
              </a:rPr>
              <a:t>KEEP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670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explicit paid run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127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reserved run UUID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584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observed token cost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041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saved planning snapshot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26280" y="1874520"/>
            <a:ext cx="3246120" cy="3154680"/>
          </a:xfrm>
          <a:prstGeom prst="roundRect">
            <a:avLst>
              <a:gd name="adj" fmla="val 1739"/>
            </a:avLst>
          </a:prstGeom>
          <a:solidFill>
            <a:srgbClr val="202631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FD6E6"/>
                </a:solidFill>
              </a:rPr>
              <a:t>ADD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670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larger evaluation set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3127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auth and tenant isolation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3584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OpenTelemetry metrics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00600" y="4041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provider price catalog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321040" y="1874520"/>
            <a:ext cx="3246120" cy="3154680"/>
          </a:xfrm>
          <a:prstGeom prst="roundRect">
            <a:avLst>
              <a:gd name="adj" fmla="val 1739"/>
            </a:avLst>
          </a:prstGeom>
          <a:solidFill>
            <a:srgbClr val="191D25"/>
          </a:solidFill>
          <a:ln w="12700">
            <a:solidFill>
              <a:srgbClr val="3239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1945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BA7B5"/>
                </a:solidFill>
              </a:rPr>
              <a:t>QUESTION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26700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does quality hold at scale?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595360" y="3127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what is the right threshold?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95360" y="35844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how do retries affect spend?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595360" y="40416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4F7FB"/>
                </a:solidFill>
              </a:rPr>
              <a:t>• when should routing stop?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565099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4F7FB"/>
                </a:solidFill>
              </a:rPr>
              <a:t>The conclusion is practical: model selection is also cost control.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BA7B5"/>
                </a:solidFill>
              </a:rPr>
              <a:t>Sunday AI Builds / 01   ·   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Sunday AI Builds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AI architecture is also a financial architecture</dc:title>
  <dc:subject>LLM Cost Router / AI FinOps Calculator</dc:subject>
  <dc:creator>Valentin Sheboldaev</dc:creator>
  <cp:lastModifiedBy>Valentin Sheboldaev</cp:lastModifiedBy>
  <cp:revision>1</cp:revision>
  <dcterms:created xsi:type="dcterms:W3CDTF">2026-09-18T13:42:28Z</dcterms:created>
  <dcterms:modified xsi:type="dcterms:W3CDTF">2026-09-18T13:42:28Z</dcterms:modified>
</cp:coreProperties>
</file>